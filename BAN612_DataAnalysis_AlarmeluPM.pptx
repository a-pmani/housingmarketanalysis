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8" r:id="rId3"/>
    <p:sldId id="281" r:id="rId4"/>
    <p:sldId id="257" r:id="rId5"/>
    <p:sldId id="259" r:id="rId6"/>
    <p:sldId id="282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3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9"/>
    <p:restoredTop sz="94754"/>
  </p:normalViewPr>
  <p:slideViewPr>
    <p:cSldViewPr snapToGrid="0" snapToObjects="1">
      <p:cViewPr varScale="1">
        <p:scale>
          <a:sx n="102" d="100"/>
          <a:sy n="102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B40153-67BD-4BF2-B70C-6F2BAEFFDAB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7F290FD-9FE3-466C-AA4B-326B06AEEC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 preprocessing</a:t>
          </a:r>
        </a:p>
      </dgm:t>
    </dgm:pt>
    <dgm:pt modelId="{B790FFC1-1E44-4101-A34A-BE7615CA0FCB}" type="parTrans" cxnId="{162A1546-FFA1-4901-8344-06393F046913}">
      <dgm:prSet/>
      <dgm:spPr/>
      <dgm:t>
        <a:bodyPr/>
        <a:lstStyle/>
        <a:p>
          <a:endParaRPr lang="en-US"/>
        </a:p>
      </dgm:t>
    </dgm:pt>
    <dgm:pt modelId="{D9C38E0D-3912-4C52-B243-082E350EB5E4}" type="sibTrans" cxnId="{162A1546-FFA1-4901-8344-06393F0469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E4A996-A0B0-4CF4-A0CE-FA7480B4A3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Exploratory analysis and visualizations</a:t>
          </a:r>
        </a:p>
      </dgm:t>
    </dgm:pt>
    <dgm:pt modelId="{950341B5-8CC2-401C-950D-94AA8A37F2D0}" type="parTrans" cxnId="{C7A08CD5-3C42-4C6E-B073-27C94A8998A7}">
      <dgm:prSet/>
      <dgm:spPr/>
      <dgm:t>
        <a:bodyPr/>
        <a:lstStyle/>
        <a:p>
          <a:endParaRPr lang="en-US"/>
        </a:p>
      </dgm:t>
    </dgm:pt>
    <dgm:pt modelId="{3A0831CB-FCAF-44EA-A7DE-72A539A5DB56}" type="sibTrans" cxnId="{C7A08CD5-3C42-4C6E-B073-27C94A8998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82714B6-41AD-40D8-94B0-11C3A92697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Research questions</a:t>
          </a:r>
        </a:p>
      </dgm:t>
    </dgm:pt>
    <dgm:pt modelId="{0F3871B9-9C98-4599-950F-4ED764C3D464}" type="parTrans" cxnId="{DB6C3F37-E771-4049-92C3-416253A8D970}">
      <dgm:prSet/>
      <dgm:spPr/>
      <dgm:t>
        <a:bodyPr/>
        <a:lstStyle/>
        <a:p>
          <a:endParaRPr lang="en-US"/>
        </a:p>
      </dgm:t>
    </dgm:pt>
    <dgm:pt modelId="{B3F6F6C8-C3C0-4A0E-9FC5-19A253F647BE}" type="sibTrans" cxnId="{DB6C3F37-E771-4049-92C3-416253A8D970}">
      <dgm:prSet/>
      <dgm:spPr/>
      <dgm:t>
        <a:bodyPr/>
        <a:lstStyle/>
        <a:p>
          <a:endParaRPr lang="en-US"/>
        </a:p>
      </dgm:t>
    </dgm:pt>
    <dgm:pt modelId="{84FE31DE-1F64-4075-B6E1-3ADE9CA1B53E}" type="pres">
      <dgm:prSet presAssocID="{11B40153-67BD-4BF2-B70C-6F2BAEFFDAB4}" presName="root" presStyleCnt="0">
        <dgm:presLayoutVars>
          <dgm:dir/>
          <dgm:resizeHandles val="exact"/>
        </dgm:presLayoutVars>
      </dgm:prSet>
      <dgm:spPr/>
    </dgm:pt>
    <dgm:pt modelId="{49857BE3-45BF-4E1E-9139-10F2E9AD319D}" type="pres">
      <dgm:prSet presAssocID="{27F290FD-9FE3-466C-AA4B-326B06AEECAA}" presName="compNode" presStyleCnt="0"/>
      <dgm:spPr/>
    </dgm:pt>
    <dgm:pt modelId="{6AF02025-BD81-4B7B-8CFE-196B28C543AD}" type="pres">
      <dgm:prSet presAssocID="{27F290FD-9FE3-466C-AA4B-326B06AEECAA}" presName="iconBgRect" presStyleLbl="bgShp" presStyleIdx="0" presStyleCnt="3"/>
      <dgm:spPr/>
    </dgm:pt>
    <dgm:pt modelId="{A6B52842-0B5D-4DCE-A795-BAAA55B8EECD}" type="pres">
      <dgm:prSet presAssocID="{27F290FD-9FE3-466C-AA4B-326B06AEECA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C282586-D0B3-44FD-AADA-432761BD4FA1}" type="pres">
      <dgm:prSet presAssocID="{27F290FD-9FE3-466C-AA4B-326B06AEECAA}" presName="spaceRect" presStyleCnt="0"/>
      <dgm:spPr/>
    </dgm:pt>
    <dgm:pt modelId="{C41FFF1E-C012-435A-9283-A3605CBC9FAD}" type="pres">
      <dgm:prSet presAssocID="{27F290FD-9FE3-466C-AA4B-326B06AEECAA}" presName="textRect" presStyleLbl="revTx" presStyleIdx="0" presStyleCnt="3">
        <dgm:presLayoutVars>
          <dgm:chMax val="1"/>
          <dgm:chPref val="1"/>
        </dgm:presLayoutVars>
      </dgm:prSet>
      <dgm:spPr/>
    </dgm:pt>
    <dgm:pt modelId="{1BA23621-FB51-433C-BFDB-9238286DCAA6}" type="pres">
      <dgm:prSet presAssocID="{D9C38E0D-3912-4C52-B243-082E350EB5E4}" presName="sibTrans" presStyleCnt="0"/>
      <dgm:spPr/>
    </dgm:pt>
    <dgm:pt modelId="{FA229065-93EB-4B22-BA67-9A70B0013FBC}" type="pres">
      <dgm:prSet presAssocID="{44E4A996-A0B0-4CF4-A0CE-FA7480B4A333}" presName="compNode" presStyleCnt="0"/>
      <dgm:spPr/>
    </dgm:pt>
    <dgm:pt modelId="{CA3C03B7-49D5-4879-A75C-69965D8487A6}" type="pres">
      <dgm:prSet presAssocID="{44E4A996-A0B0-4CF4-A0CE-FA7480B4A333}" presName="iconBgRect" presStyleLbl="bgShp" presStyleIdx="1" presStyleCnt="3"/>
      <dgm:spPr/>
    </dgm:pt>
    <dgm:pt modelId="{4CB99B43-12B0-46E9-87FE-780D30E38789}" type="pres">
      <dgm:prSet presAssocID="{44E4A996-A0B0-4CF4-A0CE-FA7480B4A33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9654927-45AA-4A7F-827A-6558542AE1F1}" type="pres">
      <dgm:prSet presAssocID="{44E4A996-A0B0-4CF4-A0CE-FA7480B4A333}" presName="spaceRect" presStyleCnt="0"/>
      <dgm:spPr/>
    </dgm:pt>
    <dgm:pt modelId="{F2A6606A-EB11-4FD0-8A42-75BEC6289240}" type="pres">
      <dgm:prSet presAssocID="{44E4A996-A0B0-4CF4-A0CE-FA7480B4A333}" presName="textRect" presStyleLbl="revTx" presStyleIdx="1" presStyleCnt="3">
        <dgm:presLayoutVars>
          <dgm:chMax val="1"/>
          <dgm:chPref val="1"/>
        </dgm:presLayoutVars>
      </dgm:prSet>
      <dgm:spPr/>
    </dgm:pt>
    <dgm:pt modelId="{1AD3BA0C-7BCB-4A0B-B5A6-C6A4DFA9BA60}" type="pres">
      <dgm:prSet presAssocID="{3A0831CB-FCAF-44EA-A7DE-72A539A5DB56}" presName="sibTrans" presStyleCnt="0"/>
      <dgm:spPr/>
    </dgm:pt>
    <dgm:pt modelId="{8E334359-C56E-4B34-8F2E-F97534FD59EA}" type="pres">
      <dgm:prSet presAssocID="{F82714B6-41AD-40D8-94B0-11C3A92697C0}" presName="compNode" presStyleCnt="0"/>
      <dgm:spPr/>
    </dgm:pt>
    <dgm:pt modelId="{6DF529FD-1064-45B0-8444-32D0911C4291}" type="pres">
      <dgm:prSet presAssocID="{F82714B6-41AD-40D8-94B0-11C3A92697C0}" presName="iconBgRect" presStyleLbl="bgShp" presStyleIdx="2" presStyleCnt="3"/>
      <dgm:spPr/>
    </dgm:pt>
    <dgm:pt modelId="{C173F5F1-68AE-4378-B831-414670B8C481}" type="pres">
      <dgm:prSet presAssocID="{F82714B6-41AD-40D8-94B0-11C3A92697C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89421D7D-2BB2-46C6-A3F6-CA56B193ECBF}" type="pres">
      <dgm:prSet presAssocID="{F82714B6-41AD-40D8-94B0-11C3A92697C0}" presName="spaceRect" presStyleCnt="0"/>
      <dgm:spPr/>
    </dgm:pt>
    <dgm:pt modelId="{928D349A-F500-48C7-92B5-1672C3E33A70}" type="pres">
      <dgm:prSet presAssocID="{F82714B6-41AD-40D8-94B0-11C3A92697C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B8D0914-ACF2-494D-87CB-3F45E73F5E59}" type="presOf" srcId="{F82714B6-41AD-40D8-94B0-11C3A92697C0}" destId="{928D349A-F500-48C7-92B5-1672C3E33A70}" srcOrd="0" destOrd="0" presId="urn:microsoft.com/office/officeart/2018/5/layout/IconCircleLabelList"/>
    <dgm:cxn modelId="{DB6C3F37-E771-4049-92C3-416253A8D970}" srcId="{11B40153-67BD-4BF2-B70C-6F2BAEFFDAB4}" destId="{F82714B6-41AD-40D8-94B0-11C3A92697C0}" srcOrd="2" destOrd="0" parTransId="{0F3871B9-9C98-4599-950F-4ED764C3D464}" sibTransId="{B3F6F6C8-C3C0-4A0E-9FC5-19A253F647BE}"/>
    <dgm:cxn modelId="{162A1546-FFA1-4901-8344-06393F046913}" srcId="{11B40153-67BD-4BF2-B70C-6F2BAEFFDAB4}" destId="{27F290FD-9FE3-466C-AA4B-326B06AEECAA}" srcOrd="0" destOrd="0" parTransId="{B790FFC1-1E44-4101-A34A-BE7615CA0FCB}" sibTransId="{D9C38E0D-3912-4C52-B243-082E350EB5E4}"/>
    <dgm:cxn modelId="{B016AEC9-BFED-A54F-91D5-0372A83E8F67}" type="presOf" srcId="{11B40153-67BD-4BF2-B70C-6F2BAEFFDAB4}" destId="{84FE31DE-1F64-4075-B6E1-3ADE9CA1B53E}" srcOrd="0" destOrd="0" presId="urn:microsoft.com/office/officeart/2018/5/layout/IconCircleLabelList"/>
    <dgm:cxn modelId="{1A3F68CA-60F9-754B-8CB5-88B4F93FBC4F}" type="presOf" srcId="{44E4A996-A0B0-4CF4-A0CE-FA7480B4A333}" destId="{F2A6606A-EB11-4FD0-8A42-75BEC6289240}" srcOrd="0" destOrd="0" presId="urn:microsoft.com/office/officeart/2018/5/layout/IconCircleLabelList"/>
    <dgm:cxn modelId="{C7A08CD5-3C42-4C6E-B073-27C94A8998A7}" srcId="{11B40153-67BD-4BF2-B70C-6F2BAEFFDAB4}" destId="{44E4A996-A0B0-4CF4-A0CE-FA7480B4A333}" srcOrd="1" destOrd="0" parTransId="{950341B5-8CC2-401C-950D-94AA8A37F2D0}" sibTransId="{3A0831CB-FCAF-44EA-A7DE-72A539A5DB56}"/>
    <dgm:cxn modelId="{9815BEFB-F843-4440-8C1E-2B3F312CB888}" type="presOf" srcId="{27F290FD-9FE3-466C-AA4B-326B06AEECAA}" destId="{C41FFF1E-C012-435A-9283-A3605CBC9FAD}" srcOrd="0" destOrd="0" presId="urn:microsoft.com/office/officeart/2018/5/layout/IconCircleLabelList"/>
    <dgm:cxn modelId="{CC9E252C-1283-BF4E-9FE5-BA28BAD50095}" type="presParOf" srcId="{84FE31DE-1F64-4075-B6E1-3ADE9CA1B53E}" destId="{49857BE3-45BF-4E1E-9139-10F2E9AD319D}" srcOrd="0" destOrd="0" presId="urn:microsoft.com/office/officeart/2018/5/layout/IconCircleLabelList"/>
    <dgm:cxn modelId="{6B006091-1BF7-0F44-814E-026295C9CFB3}" type="presParOf" srcId="{49857BE3-45BF-4E1E-9139-10F2E9AD319D}" destId="{6AF02025-BD81-4B7B-8CFE-196B28C543AD}" srcOrd="0" destOrd="0" presId="urn:microsoft.com/office/officeart/2018/5/layout/IconCircleLabelList"/>
    <dgm:cxn modelId="{162D6CEF-1A49-A247-AA53-93DD7978CD00}" type="presParOf" srcId="{49857BE3-45BF-4E1E-9139-10F2E9AD319D}" destId="{A6B52842-0B5D-4DCE-A795-BAAA55B8EECD}" srcOrd="1" destOrd="0" presId="urn:microsoft.com/office/officeart/2018/5/layout/IconCircleLabelList"/>
    <dgm:cxn modelId="{87B14EA0-5E90-6244-A491-76AC39038773}" type="presParOf" srcId="{49857BE3-45BF-4E1E-9139-10F2E9AD319D}" destId="{9C282586-D0B3-44FD-AADA-432761BD4FA1}" srcOrd="2" destOrd="0" presId="urn:microsoft.com/office/officeart/2018/5/layout/IconCircleLabelList"/>
    <dgm:cxn modelId="{534790E7-5772-F34B-A5CD-706B55598897}" type="presParOf" srcId="{49857BE3-45BF-4E1E-9139-10F2E9AD319D}" destId="{C41FFF1E-C012-435A-9283-A3605CBC9FAD}" srcOrd="3" destOrd="0" presId="urn:microsoft.com/office/officeart/2018/5/layout/IconCircleLabelList"/>
    <dgm:cxn modelId="{9F6DC2BD-EF83-5E40-A283-B5EA4385A50B}" type="presParOf" srcId="{84FE31DE-1F64-4075-B6E1-3ADE9CA1B53E}" destId="{1BA23621-FB51-433C-BFDB-9238286DCAA6}" srcOrd="1" destOrd="0" presId="urn:microsoft.com/office/officeart/2018/5/layout/IconCircleLabelList"/>
    <dgm:cxn modelId="{5C7F9B51-BA3A-8F46-8304-CE167FFC302D}" type="presParOf" srcId="{84FE31DE-1F64-4075-B6E1-3ADE9CA1B53E}" destId="{FA229065-93EB-4B22-BA67-9A70B0013FBC}" srcOrd="2" destOrd="0" presId="urn:microsoft.com/office/officeart/2018/5/layout/IconCircleLabelList"/>
    <dgm:cxn modelId="{E87C42F4-1E95-4F4D-B376-365FBCC6968B}" type="presParOf" srcId="{FA229065-93EB-4B22-BA67-9A70B0013FBC}" destId="{CA3C03B7-49D5-4879-A75C-69965D8487A6}" srcOrd="0" destOrd="0" presId="urn:microsoft.com/office/officeart/2018/5/layout/IconCircleLabelList"/>
    <dgm:cxn modelId="{841AF103-147E-E246-AFFC-5B0FF31BEAA9}" type="presParOf" srcId="{FA229065-93EB-4B22-BA67-9A70B0013FBC}" destId="{4CB99B43-12B0-46E9-87FE-780D30E38789}" srcOrd="1" destOrd="0" presId="urn:microsoft.com/office/officeart/2018/5/layout/IconCircleLabelList"/>
    <dgm:cxn modelId="{66F798EE-B1D8-5444-9E59-D86C0A23809A}" type="presParOf" srcId="{FA229065-93EB-4B22-BA67-9A70B0013FBC}" destId="{D9654927-45AA-4A7F-827A-6558542AE1F1}" srcOrd="2" destOrd="0" presId="urn:microsoft.com/office/officeart/2018/5/layout/IconCircleLabelList"/>
    <dgm:cxn modelId="{2C561474-EA65-1249-B3B1-4DB7C0DAD2A1}" type="presParOf" srcId="{FA229065-93EB-4B22-BA67-9A70B0013FBC}" destId="{F2A6606A-EB11-4FD0-8A42-75BEC6289240}" srcOrd="3" destOrd="0" presId="urn:microsoft.com/office/officeart/2018/5/layout/IconCircleLabelList"/>
    <dgm:cxn modelId="{20E1CC71-2A7B-A74A-AF3D-EE9C8D2DEF40}" type="presParOf" srcId="{84FE31DE-1F64-4075-B6E1-3ADE9CA1B53E}" destId="{1AD3BA0C-7BCB-4A0B-B5A6-C6A4DFA9BA60}" srcOrd="3" destOrd="0" presId="urn:microsoft.com/office/officeart/2018/5/layout/IconCircleLabelList"/>
    <dgm:cxn modelId="{90E5DF3E-9651-4A49-AB5A-5FE8EC42BF0A}" type="presParOf" srcId="{84FE31DE-1F64-4075-B6E1-3ADE9CA1B53E}" destId="{8E334359-C56E-4B34-8F2E-F97534FD59EA}" srcOrd="4" destOrd="0" presId="urn:microsoft.com/office/officeart/2018/5/layout/IconCircleLabelList"/>
    <dgm:cxn modelId="{912F93A7-AA0A-4745-9280-24BA9DBCC771}" type="presParOf" srcId="{8E334359-C56E-4B34-8F2E-F97534FD59EA}" destId="{6DF529FD-1064-45B0-8444-32D0911C4291}" srcOrd="0" destOrd="0" presId="urn:microsoft.com/office/officeart/2018/5/layout/IconCircleLabelList"/>
    <dgm:cxn modelId="{CD2BFDB3-EC87-344E-B75A-E52472D3EE7E}" type="presParOf" srcId="{8E334359-C56E-4B34-8F2E-F97534FD59EA}" destId="{C173F5F1-68AE-4378-B831-414670B8C481}" srcOrd="1" destOrd="0" presId="urn:microsoft.com/office/officeart/2018/5/layout/IconCircleLabelList"/>
    <dgm:cxn modelId="{2B4B7124-4155-5640-BF30-0DD062E7DBB1}" type="presParOf" srcId="{8E334359-C56E-4B34-8F2E-F97534FD59EA}" destId="{89421D7D-2BB2-46C6-A3F6-CA56B193ECBF}" srcOrd="2" destOrd="0" presId="urn:microsoft.com/office/officeart/2018/5/layout/IconCircleLabelList"/>
    <dgm:cxn modelId="{B25E93A5-DFCF-5444-81D0-8E7DEA78FB9C}" type="presParOf" srcId="{8E334359-C56E-4B34-8F2E-F97534FD59EA}" destId="{928D349A-F500-48C7-92B5-1672C3E33A7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02025-BD81-4B7B-8CFE-196B28C543AD}">
      <dsp:nvSpPr>
        <dsp:cNvPr id="0" name=""/>
        <dsp:cNvSpPr/>
      </dsp:nvSpPr>
      <dsp:spPr>
        <a:xfrm>
          <a:off x="620567" y="592127"/>
          <a:ext cx="1852875" cy="1852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52842-0B5D-4DCE-A795-BAAA55B8EECD}">
      <dsp:nvSpPr>
        <dsp:cNvPr id="0" name=""/>
        <dsp:cNvSpPr/>
      </dsp:nvSpPr>
      <dsp:spPr>
        <a:xfrm>
          <a:off x="1015443" y="987002"/>
          <a:ext cx="1063125" cy="1063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FFF1E-C012-435A-9283-A3605CBC9FAD}">
      <dsp:nvSpPr>
        <dsp:cNvPr id="0" name=""/>
        <dsp:cNvSpPr/>
      </dsp:nvSpPr>
      <dsp:spPr>
        <a:xfrm>
          <a:off x="28255" y="302212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Data preprocessing</a:t>
          </a:r>
        </a:p>
      </dsp:txBody>
      <dsp:txXfrm>
        <a:off x="28255" y="3022128"/>
        <a:ext cx="3037500" cy="720000"/>
      </dsp:txXfrm>
    </dsp:sp>
    <dsp:sp modelId="{CA3C03B7-49D5-4879-A75C-69965D8487A6}">
      <dsp:nvSpPr>
        <dsp:cNvPr id="0" name=""/>
        <dsp:cNvSpPr/>
      </dsp:nvSpPr>
      <dsp:spPr>
        <a:xfrm>
          <a:off x="4189630" y="592127"/>
          <a:ext cx="1852875" cy="1852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B99B43-12B0-46E9-87FE-780D30E38789}">
      <dsp:nvSpPr>
        <dsp:cNvPr id="0" name=""/>
        <dsp:cNvSpPr/>
      </dsp:nvSpPr>
      <dsp:spPr>
        <a:xfrm>
          <a:off x="4584505" y="987002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6606A-EB11-4FD0-8A42-75BEC6289240}">
      <dsp:nvSpPr>
        <dsp:cNvPr id="0" name=""/>
        <dsp:cNvSpPr/>
      </dsp:nvSpPr>
      <dsp:spPr>
        <a:xfrm>
          <a:off x="3597318" y="302212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Exploratory analysis and visualizations</a:t>
          </a:r>
        </a:p>
      </dsp:txBody>
      <dsp:txXfrm>
        <a:off x="3597318" y="3022128"/>
        <a:ext cx="3037500" cy="720000"/>
      </dsp:txXfrm>
    </dsp:sp>
    <dsp:sp modelId="{6DF529FD-1064-45B0-8444-32D0911C4291}">
      <dsp:nvSpPr>
        <dsp:cNvPr id="0" name=""/>
        <dsp:cNvSpPr/>
      </dsp:nvSpPr>
      <dsp:spPr>
        <a:xfrm>
          <a:off x="7758693" y="592127"/>
          <a:ext cx="1852875" cy="1852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3F5F1-68AE-4378-B831-414670B8C481}">
      <dsp:nvSpPr>
        <dsp:cNvPr id="0" name=""/>
        <dsp:cNvSpPr/>
      </dsp:nvSpPr>
      <dsp:spPr>
        <a:xfrm>
          <a:off x="8153568" y="987002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D349A-F500-48C7-92B5-1672C3E33A70}">
      <dsp:nvSpPr>
        <dsp:cNvPr id="0" name=""/>
        <dsp:cNvSpPr/>
      </dsp:nvSpPr>
      <dsp:spPr>
        <a:xfrm>
          <a:off x="7166380" y="3022128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Research questions</a:t>
          </a:r>
        </a:p>
      </dsp:txBody>
      <dsp:txXfrm>
        <a:off x="7166380" y="3022128"/>
        <a:ext cx="30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1FD05-D677-624D-8A7F-FAD668CA8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6C3FD-2BD6-4344-908D-8A3FEEE6E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05BE0-E30E-B044-9CAE-3EFD094F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6F63-7C2C-9D44-9A8C-34EA9075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24012-7BEB-F044-A694-D2135A5A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6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DE65-C9EB-AD45-A220-2DA92F34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61C1C-A146-E94E-A9B4-79891371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818F9-A5DF-4F43-9D12-09FB4EC8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E5B5-F52C-D444-A645-0B922825B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4439D-2EB8-8341-AB71-432A9748F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6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8BDE-468D-FE4F-BB20-CE77EB63B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AA9D1-74F5-B74F-A974-362D2C20F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BA236-C2C1-7C45-9C7C-11A8C1B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E4BC3-1148-2F4A-8DA0-A38133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CAD04-5BCD-6549-8A1D-673EC90F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5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E0FF3-6077-F14A-8C9B-67150EFF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C0BD3-5ECC-0947-902F-E1057150C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2FC88-0A10-4042-9220-091F78FF0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63588-A21A-5A4E-BF70-D2604446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CBA30-EC18-4645-A14E-15443FD7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D3856-4271-114B-8AB5-17DD35D8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04EE-2028-554E-BD74-1CAE0FEB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1C005-324B-E641-BC7C-4B1498C71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CA378-EEF9-6247-A3BE-FE7C27C37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100A60-FF74-7241-BCAD-8B7ECE700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EA157-8A36-2444-AF99-1E8F44C16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14E63-2408-AE41-8EB5-BF1D51EB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6C472-AF05-3F4B-889A-278751EF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4AE98-C1F0-3243-9F20-4D350471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60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281E-6412-8E41-8EDE-1B67B6EE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99FFAE-F0A3-524B-898B-23588F2C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DBF1A7-93E4-E445-8C0B-4E23673D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DED72-7939-9C4F-82AC-8F9648CF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5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A1140-A10B-914B-BEF1-0202AF9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A2A0B-899B-E249-B1F1-06C1CA90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C89A8-81E9-3C44-8597-4303A4A8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6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5133-DF5D-2B40-8954-0C2718F5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E10FC-672A-3747-A866-1E3890E8A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FFA4B-87E9-184C-B24C-D9141285D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F2416-069E-2E4B-A900-1B685A44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9F05F-BACC-D748-9C27-07BAE6ED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925F6-F494-6640-9E44-8DD61084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45A8-B508-984B-AB6A-3948281D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0BEDBC-34E6-9442-8D0F-4F5159009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AD62B-2A1A-334A-B57E-5A09C1DDC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68E2D-2991-794B-A0EF-6099DF29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BB9AA-1003-7948-A09E-FFE33CDD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6B522-FFEA-B444-83C4-3C37FB65E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65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FB30-4188-5A42-92ED-389A4B8E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196EB-6095-4347-A5FC-94E77BB76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E1F7A-82C0-C740-916C-93BEB3FA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BCF6B-3477-B049-A3CF-087837405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B389C-9EA6-E340-B633-8AF376E3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0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777F0-E2F7-DC47-991F-C5966329C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45EE6-51A1-DD40-A12B-FEE850CF4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D1AB3-08A6-F948-AA9B-79553D11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C7D74-CE73-8547-91A0-5590E990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F78E2-A23E-1C49-8E22-4F057CA6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0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A6D3C-1FB5-5C48-AB50-9C39A681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B82F3-F77E-9148-93F9-00B16BE6D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25263-DCAB-6F45-950D-134C27218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743F4-8769-40B4-85DF-6CB8DE9F66AA}" type="datetimeFigureOut">
              <a:rPr lang="en-US" smtClean="0"/>
              <a:pPr/>
              <a:t>5/12/21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DDDE-1BD6-DB45-9A8C-45BCA20E5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30B09-2560-9743-B845-55275BAB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443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36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Different icons of houses">
            <a:extLst>
              <a:ext uri="{FF2B5EF4-FFF2-40B4-BE49-F238E27FC236}">
                <a16:creationId xmlns:a16="http://schemas.microsoft.com/office/drawing/2014/main" id="{B4E64441-2D81-7742-8002-B30655354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38" r="2" b="4007"/>
          <a:stretch/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48" name="Freeform: Shape 38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9" name="Freeform: Shape 40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2A859-8600-6C45-B170-5492D9377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ANALYZING THE SAN RAMON AREA HOUSING MARKET</a:t>
            </a: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DATA EXPLORATION, ANALYSIS AND HOUSING PRICE PREDICTION</a:t>
            </a:r>
            <a:br>
              <a:rPr lang="en-US" sz="2300" dirty="0"/>
            </a:br>
            <a:endParaRPr lang="en-US" sz="2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FE4E4-4BC3-4D47-98CB-E5778CA54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SUBMITTED BY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ALARMELU PICHUMANI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TJ6723</a:t>
            </a: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3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C57C7-08A7-AB40-9BDE-CF63E3E2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 dirty="0"/>
              <a:t>Steps involved: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53B98F-E409-4765-876F-4331F2A40C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9089577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779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5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577C4-9515-974E-B917-839CA32B2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Data Preprocessing</a:t>
            </a: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59896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4C2F2-7663-1D4B-8F2F-770427C2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r>
              <a:rPr lang="en-US" sz="4000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</a:t>
            </a:r>
            <a:br>
              <a:rPr lang="en-US" sz="2400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Importing data from the csv file</a:t>
            </a:r>
            <a:endParaRPr lang="en-US" sz="2400" kern="1200" cap="none" spc="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" name="Rectangle 3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3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CA19-9929-484B-9BE9-5F1928F8E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/>
              <a:t>Import the data scraped from Zillow.com and stored in ‘</a:t>
            </a:r>
            <a:r>
              <a:rPr lang="en-US" sz="1800" dirty="0" err="1"/>
              <a:t>SanRamon_housing.csv</a:t>
            </a:r>
            <a:r>
              <a:rPr lang="en-US" sz="1800" dirty="0"/>
              <a:t>’ file into a </a:t>
            </a:r>
            <a:r>
              <a:rPr lang="en-US" sz="1800" dirty="0" err="1"/>
              <a:t>dataframe</a:t>
            </a:r>
            <a:r>
              <a:rPr lang="en-US" sz="1800" dirty="0"/>
              <a:t>.</a:t>
            </a:r>
          </a:p>
          <a:p>
            <a:r>
              <a:rPr lang="en-US" sz="1800" dirty="0"/>
              <a:t>Check the dataset for missing values using a heatmap.</a:t>
            </a:r>
          </a:p>
          <a:p>
            <a:r>
              <a:rPr lang="en-US" sz="1800" dirty="0"/>
              <a:t>Some values in the Beds, Heating, Cooling and </a:t>
            </a:r>
            <a:r>
              <a:rPr lang="en-US" sz="1800" dirty="0" err="1"/>
              <a:t>TaxAssessedValue</a:t>
            </a:r>
            <a:r>
              <a:rPr lang="en-US" sz="1800" dirty="0"/>
              <a:t> columns are missing.</a:t>
            </a:r>
          </a:p>
        </p:txBody>
      </p:sp>
      <p:pic>
        <p:nvPicPr>
          <p:cNvPr id="9" name="Content Placeholder 8" descr="Chart, bar chart&#10;&#10;Description automatically generated">
            <a:extLst>
              <a:ext uri="{FF2B5EF4-FFF2-40B4-BE49-F238E27FC236}">
                <a16:creationId xmlns:a16="http://schemas.microsoft.com/office/drawing/2014/main" id="{8B5B6164-97C5-CE49-9EE9-F88D6C32C3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30388" y="625683"/>
            <a:ext cx="55512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3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6D60B-8EC7-7745-810E-7A2EAF8D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preprocessing</a:t>
            </a:r>
            <a:b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cleaning and imputations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45B09-E412-2E47-BD65-40DBC4317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371870"/>
            <a:ext cx="4443154" cy="3805093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/>
              <a:t>Each feature(column) is checked for unwanted strings, special characters, extra spaces, repetitions and missing data.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/>
              <a:t>The data is cleaned, and missing values are imputed accordingly.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/>
              <a:t>The column values were extracted in the string format while scraping. The features are converted to appropriate datatypes for further analysis.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/>
              <a:t>E.g., Price, Sqft, Beds and baths are converted to integers/floats.</a:t>
            </a:r>
            <a:endParaRPr lang="en-US" sz="1800" dirty="0"/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6" name="Content Placeholder 5" descr="Table&#10;&#10;Description automatically generated">
            <a:extLst>
              <a:ext uri="{FF2B5EF4-FFF2-40B4-BE49-F238E27FC236}">
                <a16:creationId xmlns:a16="http://schemas.microsoft.com/office/drawing/2014/main" id="{0928EA2F-FD35-D54F-B60E-5D2904C9F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8806" y="625683"/>
            <a:ext cx="5734444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5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6D60B-8EC7-7745-810E-7A2EAF8D9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prstClr val="black"/>
                </a:solidFill>
              </a:rPr>
              <a:t>Data preprocessing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</a:rPr>
              <a:t>After cleaning and imputations</a:t>
            </a: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Content Placeholder 5" descr="Chart&#10;&#10;Description automatically generated">
            <a:extLst>
              <a:ext uri="{FF2B5EF4-FFF2-40B4-BE49-F238E27FC236}">
                <a16:creationId xmlns:a16="http://schemas.microsoft.com/office/drawing/2014/main" id="{3DBF2D66-F594-C249-BA87-4EF13CCB64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0119" y="2371870"/>
            <a:ext cx="4208580" cy="4116870"/>
          </a:xfrm>
          <a:prstGeom prst="rect">
            <a:avLst/>
          </a:prstGeom>
        </p:spPr>
      </p:pic>
      <p:pic>
        <p:nvPicPr>
          <p:cNvPr id="14" name="Content Placeholder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CE1921B-BF90-1849-8CAD-603D77EF5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94692"/>
            <a:ext cx="5181600" cy="24132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FDA45D-4CCB-3D42-AB9E-8415F7918F7E}"/>
              </a:ext>
            </a:extLst>
          </p:cNvPr>
          <p:cNvSpPr txBox="1"/>
          <p:nvPr/>
        </p:nvSpPr>
        <p:spPr>
          <a:xfrm>
            <a:off x="1161706" y="6168571"/>
            <a:ext cx="343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Heatmap after imputations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00CAF8-2F81-3148-BB6B-1717ED5F2EFA}"/>
              </a:ext>
            </a:extLst>
          </p:cNvPr>
          <p:cNvSpPr txBox="1"/>
          <p:nvPr/>
        </p:nvSpPr>
        <p:spPr>
          <a:xfrm>
            <a:off x="6928964" y="6168571"/>
            <a:ext cx="3991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rows from the dataset</a:t>
            </a:r>
          </a:p>
        </p:txBody>
      </p:sp>
    </p:spTree>
    <p:extLst>
      <p:ext uri="{BB962C8B-B14F-4D97-AF65-F5344CB8AC3E}">
        <p14:creationId xmlns:p14="http://schemas.microsoft.com/office/powerpoint/2010/main" val="326908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B113D-8883-F443-B9D9-AC34CE60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51" y="1122363"/>
            <a:ext cx="11034695" cy="3174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Exploratory Analysis and Visualizations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4974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AF38A-3569-574B-8075-EF2FD220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17123"/>
            <a:ext cx="4443154" cy="156841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impacting the price of the house:</a:t>
            </a:r>
            <a:b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Relationship between Year built, House type and the price of the house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89C1-5487-4A4C-AB07-692F96BD7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52643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More houses constructed in the recent years show a higher selling price(above 2M).</a:t>
            </a:r>
          </a:p>
          <a:p>
            <a:r>
              <a:rPr lang="en-US" sz="2000" dirty="0"/>
              <a:t>This can be attributed to several factors such as building cost, inflation and buyer’s preferences about the age of the building.</a:t>
            </a:r>
          </a:p>
          <a:p>
            <a:r>
              <a:rPr lang="en-US" sz="2000" dirty="0"/>
              <a:t>The behavior is common for all types of house in the San Ramon area.</a:t>
            </a:r>
          </a:p>
        </p:txBody>
      </p:sp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357A56A3-84D5-024B-9728-E25CAFEC19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828591"/>
            <a:ext cx="6440424" cy="514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05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95DE0-0D33-BB4E-BB5F-56037439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77665"/>
            <a:ext cx="4443154" cy="151355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impacting the price of the house:</a:t>
            </a:r>
            <a:br>
              <a:rPr lang="en-US" sz="1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Relationship between Square footage, House type and the price of the house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59C0-85E2-BC48-AABD-5F11DC85D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531164"/>
            <a:ext cx="4443154" cy="372462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Square footage and the price has a colinear relationship and the trend can be seen in the plot.</a:t>
            </a:r>
          </a:p>
          <a:p>
            <a:r>
              <a:rPr lang="en-US" sz="2000" dirty="0"/>
              <a:t>Single family homes have higher square footage (&gt;1000 Sqft up to 6000 Sqft).</a:t>
            </a:r>
          </a:p>
          <a:p>
            <a:r>
              <a:rPr lang="en-US" sz="2000" dirty="0"/>
              <a:t>Almost all the sub 1000 Sqft homes are condos.</a:t>
            </a:r>
          </a:p>
        </p:txBody>
      </p:sp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11656182-4E00-744A-89BD-877CAAA28C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899809"/>
            <a:ext cx="6440424" cy="500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92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E45FF-0022-4F4F-8009-25439037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183785"/>
            <a:ext cx="4443154" cy="11150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impacting the price of the house:</a:t>
            </a:r>
            <a:br>
              <a:rPr lang="en-US" sz="1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Relationship between number of Bedrooms and the price of the house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BF59-6954-BE4A-A788-BFEBF8633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491994"/>
            <a:ext cx="4443154" cy="37165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Number of bedrooms and the price has a colinear relationship and the trend can be seen in the plot.</a:t>
            </a:r>
          </a:p>
          <a:p>
            <a:r>
              <a:rPr lang="en-US" sz="2000" dirty="0"/>
              <a:t>Single family homes predominantly have at least 3 bedrooms and up to 6 bedrooms in our dataset.</a:t>
            </a:r>
          </a:p>
          <a:p>
            <a:r>
              <a:rPr lang="en-US" sz="2000" dirty="0"/>
              <a:t>Condos cover the 1-3-bedroom range. </a:t>
            </a:r>
          </a:p>
          <a:p>
            <a:r>
              <a:rPr lang="en-US" sz="2000" dirty="0"/>
              <a:t>Townhomes has bedroom options anywhere between 2 to 5.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6" name="Content Placeholder 5" descr="Chart, scatter chart, box and whisker chart&#10;&#10;Description automatically generated">
            <a:extLst>
              <a:ext uri="{FF2B5EF4-FFF2-40B4-BE49-F238E27FC236}">
                <a16:creationId xmlns:a16="http://schemas.microsoft.com/office/drawing/2014/main" id="{F4F98E9F-99C2-AA43-B2AD-0889A07633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825153"/>
            <a:ext cx="6440424" cy="515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87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E4C061-0D86-5E40-B768-A825536F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126417"/>
            <a:ext cx="4443154" cy="11881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impacting the price of the house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1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Relationship between number of baths and the price of the house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6974D-5164-F444-AAB0-C180EE5E3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351145"/>
            <a:ext cx="4443154" cy="38548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Number of baths and the price has a colinear relationship and the trend can be seen in the plot.</a:t>
            </a:r>
          </a:p>
          <a:p>
            <a:r>
              <a:rPr lang="en-US" sz="2000" dirty="0"/>
              <a:t>Single family homes predominantly have at least a baths and up to 7 baths in our dataset. 3 baths have a higher presence.</a:t>
            </a:r>
          </a:p>
          <a:p>
            <a:r>
              <a:rPr lang="en-US" sz="2000" dirty="0"/>
              <a:t>Condos have anywhere between 1 to 3 baths. 2 baths have a high presence.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Content Placeholder 5" descr="Chart, scatter chart, box and whisker chart&#10;&#10;Description automatically generated">
            <a:extLst>
              <a:ext uri="{FF2B5EF4-FFF2-40B4-BE49-F238E27FC236}">
                <a16:creationId xmlns:a16="http://schemas.microsoft.com/office/drawing/2014/main" id="{98417073-4D69-0142-B308-549D4B4122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825153"/>
            <a:ext cx="6440424" cy="515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55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2E64E-35CD-4C4F-BFD5-4359AC4A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717123"/>
            <a:ext cx="4443154" cy="156841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impacting the price of the house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1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Relationship between monthly hoa fee and the price of the house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253AE-2CF1-CD4D-BD8D-A8BA4E139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456688"/>
            <a:ext cx="4443154" cy="37202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Single family homes predominantly have a monthly hoa fee under $200 and are priced anywhere between $1-3 MM.</a:t>
            </a:r>
          </a:p>
          <a:p>
            <a:r>
              <a:rPr lang="en-US" sz="2000" dirty="0"/>
              <a:t>However , condos and townhomes have higher hoa fees. </a:t>
            </a:r>
          </a:p>
          <a:p>
            <a:r>
              <a:rPr lang="en-US" sz="2000" dirty="0"/>
              <a:t>This can be attributed to the shared building maintenance and common amenities.</a:t>
            </a:r>
          </a:p>
          <a:p>
            <a:r>
              <a:rPr lang="en-US" sz="2000" dirty="0"/>
              <a:t>The hoa fees does not show a major impact on the pricing of the house. </a:t>
            </a:r>
          </a:p>
          <a:p>
            <a:endParaRPr lang="en-US" sz="1800" dirty="0"/>
          </a:p>
        </p:txBody>
      </p:sp>
      <p:pic>
        <p:nvPicPr>
          <p:cNvPr id="6" name="Content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F0CA9F60-AE71-F749-BAF6-0369D7BCD5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828591"/>
            <a:ext cx="6440424" cy="514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13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FF9A4-7E0C-8D4C-8EED-CE17445A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304941"/>
            <a:ext cx="4443154" cy="11150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distribution</a:t>
            </a:r>
            <a:b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 the pricing in San Ramon area</a:t>
            </a:r>
            <a:b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						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75B44-F374-534A-BF03-983C27575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438229"/>
            <a:ext cx="4443154" cy="38548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The housing prices fall anywhere between $400,000 to $3MM.</a:t>
            </a:r>
          </a:p>
          <a:p>
            <a:r>
              <a:rPr lang="en-US" sz="2000" dirty="0"/>
              <a:t>The major concentration is between $1 MM to $2 MM price range.</a:t>
            </a:r>
          </a:p>
          <a:p>
            <a:r>
              <a:rPr lang="en-US" sz="2000" dirty="0"/>
              <a:t>Median price for a single-family home comes to $1.625 MM.</a:t>
            </a:r>
          </a:p>
          <a:p>
            <a:r>
              <a:rPr lang="en-US" sz="2000" dirty="0"/>
              <a:t>Median price for a condo comes to $642,500.</a:t>
            </a:r>
          </a:p>
          <a:p>
            <a:r>
              <a:rPr lang="en-US" sz="2000" dirty="0"/>
              <a:t>Median price for a Townhouse comes to $1.07 MM.</a:t>
            </a:r>
          </a:p>
        </p:txBody>
      </p:sp>
      <p:pic>
        <p:nvPicPr>
          <p:cNvPr id="6" name="Content Placeholder 5" descr="Chart, histogram&#10;&#10;Description automatically generated">
            <a:extLst>
              <a:ext uri="{FF2B5EF4-FFF2-40B4-BE49-F238E27FC236}">
                <a16:creationId xmlns:a16="http://schemas.microsoft.com/office/drawing/2014/main" id="{95A82F29-F6CC-A74C-9ECB-5BA62CEDE3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977749"/>
            <a:ext cx="6440424" cy="4847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7A92AB-3DD2-2C4C-8431-AEAC141E16D5}"/>
              </a:ext>
            </a:extLst>
          </p:cNvPr>
          <p:cNvSpPr txBox="1"/>
          <p:nvPr/>
        </p:nvSpPr>
        <p:spPr>
          <a:xfrm>
            <a:off x="6647543" y="5936343"/>
            <a:ext cx="4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Housing Price distribution in San Ramon area</a:t>
            </a:r>
          </a:p>
        </p:txBody>
      </p:sp>
    </p:spTree>
    <p:extLst>
      <p:ext uri="{BB962C8B-B14F-4D97-AF65-F5344CB8AC3E}">
        <p14:creationId xmlns:p14="http://schemas.microsoft.com/office/powerpoint/2010/main" val="2770254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341E6-E1E2-6844-9840-2DFFF15F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distribution</a:t>
            </a: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Pricing comparison for different types of homes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EA595-9E19-3C4E-805D-AEFC0D2CC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371870"/>
            <a:ext cx="4443154" cy="380509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Single-family homes have the highest pricing.</a:t>
            </a:r>
          </a:p>
          <a:p>
            <a:r>
              <a:rPr lang="en-US" sz="2000" dirty="0"/>
              <a:t>Followed by condos and townhomes.</a:t>
            </a:r>
          </a:p>
          <a:p>
            <a:r>
              <a:rPr lang="en-US" sz="2000" dirty="0"/>
              <a:t>Single family homes are more prevalent than any other home types.</a:t>
            </a:r>
          </a:p>
          <a:p>
            <a:r>
              <a:rPr lang="en-US" sz="2000" dirty="0"/>
              <a:t>Customer preference can be the reason for this higher concentration of single-family homes.</a:t>
            </a:r>
          </a:p>
        </p:txBody>
      </p:sp>
      <p:pic>
        <p:nvPicPr>
          <p:cNvPr id="6" name="Content Placeholder 5" descr="Chart, bar chart&#10;&#10;Description automatically generated">
            <a:extLst>
              <a:ext uri="{FF2B5EF4-FFF2-40B4-BE49-F238E27FC236}">
                <a16:creationId xmlns:a16="http://schemas.microsoft.com/office/drawing/2014/main" id="{052D21E8-1DFF-E743-B1AC-162E1F1023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945911"/>
            <a:ext cx="6440424" cy="49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55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2CA5C1-95FF-0A44-8C31-C40653B6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distribution</a:t>
            </a: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Pricing comparison for different heating systems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D16EB-D235-F04A-936E-FB2F044A5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390158"/>
            <a:ext cx="4443154" cy="3786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Higher priced homes come with Zoned, Gas and Forced air, Gas heating systems.</a:t>
            </a:r>
          </a:p>
          <a:p>
            <a:r>
              <a:rPr lang="en-US" sz="2000" dirty="0"/>
              <a:t>Gravity, radiant heating systems and fireplaces come with homes that are priced higher.</a:t>
            </a:r>
          </a:p>
          <a:p>
            <a:r>
              <a:rPr lang="en-US" sz="2000" dirty="0"/>
              <a:t>Electric heating, only gas heating and gravity are seen in the sub $1 MM homes.</a:t>
            </a:r>
          </a:p>
        </p:txBody>
      </p:sp>
      <p:pic>
        <p:nvPicPr>
          <p:cNvPr id="10" name="Content Placeholder 9" descr="Chart, bar chart&#10;&#10;Description automatically generated">
            <a:extLst>
              <a:ext uri="{FF2B5EF4-FFF2-40B4-BE49-F238E27FC236}">
                <a16:creationId xmlns:a16="http://schemas.microsoft.com/office/drawing/2014/main" id="{9E7267B0-E648-5D4D-B935-FEBDBEE3FD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4266" y="625683"/>
            <a:ext cx="5523523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32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8B103-6378-D547-BABD-3CF752DB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distribution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Pricing comparison for different heating systems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84DD2-ED73-964A-B2E9-BA7B34124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371870"/>
            <a:ext cx="4886234" cy="380509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Zoned cooling with ceiling fans come with higher priced homes.</a:t>
            </a:r>
          </a:p>
          <a:p>
            <a:r>
              <a:rPr lang="en-US" sz="2000" dirty="0"/>
              <a:t>Wall and window units dominate the sub $1 MM homes.</a:t>
            </a:r>
          </a:p>
          <a:p>
            <a:r>
              <a:rPr lang="en-US" sz="2000" dirty="0"/>
              <a:t>Central cooling also seems to be a popular choice for homes priced between $1 - $2 MM.</a:t>
            </a:r>
          </a:p>
        </p:txBody>
      </p:sp>
      <p:pic>
        <p:nvPicPr>
          <p:cNvPr id="6" name="Content Placeholder 5" descr="Chart, bar chart, histogram&#10;&#10;Description automatically generated">
            <a:extLst>
              <a:ext uri="{FF2B5EF4-FFF2-40B4-BE49-F238E27FC236}">
                <a16:creationId xmlns:a16="http://schemas.microsoft.com/office/drawing/2014/main" id="{5B5CCB69-D4AC-9448-BEAD-C79C21C6F6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625683"/>
            <a:ext cx="4886234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87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57FF3-2D0B-6149-9911-05C4A972F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Research questions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89540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06CD4-7149-BC40-8A5D-1CB406C0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3200" dirty="0"/>
              <a:t>Research questions</a:t>
            </a:r>
            <a:r>
              <a:rPr lang="en-US" sz="4200" dirty="0"/>
              <a:t>:</a:t>
            </a:r>
            <a:br>
              <a:rPr lang="en-US" sz="4200" dirty="0"/>
            </a:br>
            <a:r>
              <a:rPr lang="en-US" sz="2000" dirty="0"/>
              <a:t>The motivation behind the analysis of the dataset</a:t>
            </a:r>
            <a:endParaRPr lang="en-US" sz="4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EF3E1-A918-2144-826E-4F95FAFDA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2200" dirty="0"/>
              <a:t>To statistically understand the features of a home that drives the pricing.</a:t>
            </a:r>
          </a:p>
          <a:p>
            <a:r>
              <a:rPr lang="en-US" sz="2200" dirty="0"/>
              <a:t>To see if we can accurately predict the selling price of a house in San Ramon given certain features.</a:t>
            </a:r>
          </a:p>
          <a:p>
            <a:r>
              <a:rPr lang="en-US" sz="2200" dirty="0"/>
              <a:t>How the developed model fares in contrast with Zillow’s Zestimates?</a:t>
            </a:r>
          </a:p>
        </p:txBody>
      </p:sp>
    </p:spTree>
    <p:extLst>
      <p:ext uri="{BB962C8B-B14F-4D97-AF65-F5344CB8AC3E}">
        <p14:creationId xmlns:p14="http://schemas.microsoft.com/office/powerpoint/2010/main" val="1844977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73A72-5F86-7A47-B027-6FD3AB240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Analyzing the correlation:</a:t>
            </a:r>
            <a:br>
              <a:rPr lang="en-US" sz="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analysis using a heatmap</a:t>
            </a:r>
            <a:br>
              <a:rPr lang="en-US" sz="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						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C0E7D-9626-4F4F-8D26-D86441B1B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697998"/>
            <a:ext cx="4443154" cy="366685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The price is our feature of interest.</a:t>
            </a:r>
          </a:p>
          <a:p>
            <a:r>
              <a:rPr lang="en-US" sz="2000" dirty="0"/>
              <a:t>Price shows a high correlation with Bath, Square footage and Beds.</a:t>
            </a:r>
          </a:p>
          <a:p>
            <a:r>
              <a:rPr lang="en-US" sz="2000" dirty="0"/>
              <a:t>Zestimate and Tax assessed value also show a high correlation but will not be considered as part of our analysis as they are derived from the price feature.</a:t>
            </a:r>
          </a:p>
        </p:txBody>
      </p:sp>
      <p:pic>
        <p:nvPicPr>
          <p:cNvPr id="6" name="Content Placeholder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76B3E8A-F4F1-3B41-BF69-891D762E31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728547"/>
            <a:ext cx="6440424" cy="5345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2F4651-98E1-7C43-926A-2D541BB7B1F0}"/>
              </a:ext>
            </a:extLst>
          </p:cNvPr>
          <p:cNvSpPr txBox="1"/>
          <p:nvPr/>
        </p:nvSpPr>
        <p:spPr>
          <a:xfrm>
            <a:off x="7170057" y="6074099"/>
            <a:ext cx="3744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Heatmap of correlation between dataset features</a:t>
            </a:r>
          </a:p>
        </p:txBody>
      </p:sp>
    </p:spTree>
    <p:extLst>
      <p:ext uri="{BB962C8B-B14F-4D97-AF65-F5344CB8AC3E}">
        <p14:creationId xmlns:p14="http://schemas.microsoft.com/office/powerpoint/2010/main" val="2336672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6A5E6-798E-D246-9831-49D41158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Analyzing the correlation: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analysis using simple linear regression and R-squared values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F51E5-9351-F24C-A878-6693071D7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510108"/>
            <a:ext cx="4443154" cy="366685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To simplify the analysis further, simple linear regression is used to understand specific correlations based on our exploratory analysis.</a:t>
            </a:r>
          </a:p>
          <a:p>
            <a:r>
              <a:rPr lang="en-US" sz="2000" dirty="0"/>
              <a:t>Square footage, number of beds and  baths , home type and year-built show more than 50% correlation.</a:t>
            </a:r>
          </a:p>
        </p:txBody>
      </p:sp>
      <p:pic>
        <p:nvPicPr>
          <p:cNvPr id="6" name="Content Placeholder 5" descr="Chart, bar chart&#10;&#10;Description automatically generated">
            <a:extLst>
              <a:ext uri="{FF2B5EF4-FFF2-40B4-BE49-F238E27FC236}">
                <a16:creationId xmlns:a16="http://schemas.microsoft.com/office/drawing/2014/main" id="{21C975C4-5033-2B49-A3DC-3C7761F1A8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21984" y="625683"/>
            <a:ext cx="6168087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74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6A5E6-798E-D246-9831-49D41158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>
                <a:solidFill>
                  <a:prstClr val="black"/>
                </a:solidFill>
              </a:rPr>
              <a:t>Analyzing the correlation</a:t>
            </a:r>
            <a:r>
              <a:rPr lang="en-US" sz="4000" dirty="0">
                <a:solidFill>
                  <a:prstClr val="black"/>
                </a:solidFill>
              </a:rPr>
              <a:t>:</a:t>
            </a:r>
            <a:br>
              <a:rPr lang="en-US" sz="18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Correlation analysis using multiple linear regression and adjusted R-squared values</a:t>
            </a:r>
            <a:endParaRPr lang="en-US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F51E5-9351-F24C-A878-6693071D7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510108"/>
            <a:ext cx="4443154" cy="366685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>
              <a:spcAft>
                <a:spcPts val="600"/>
              </a:spcAft>
            </a:pPr>
            <a:r>
              <a:rPr lang="en-US" sz="2000" dirty="0"/>
              <a:t>Based on the exhaustive analysis, we can see that the Sqft , Beds , Baths , HomeType, YearBuilt, Cooling yield the best adjusted R-squared values.</a:t>
            </a:r>
          </a:p>
          <a:p>
            <a:pPr marL="285750">
              <a:spcAft>
                <a:spcPts val="600"/>
              </a:spcAft>
            </a:pPr>
            <a:r>
              <a:rPr lang="en-US" sz="2000" dirty="0"/>
              <a:t>The features can be considered for housing price prediction.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EF1422C7-F648-5142-853E-606C7D35F1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8223226"/>
              </p:ext>
            </p:extLst>
          </p:nvPr>
        </p:nvGraphicFramePr>
        <p:xfrm>
          <a:off x="5120640" y="1515769"/>
          <a:ext cx="6656832" cy="3725879"/>
        </p:xfrm>
        <a:graphic>
          <a:graphicData uri="http://schemas.openxmlformats.org/drawingml/2006/table">
            <a:tbl>
              <a:tblPr firstRow="1" bandRow="1">
                <a:noFill/>
                <a:tableStyleId>{5940675A-B579-460E-94D1-54222C63F5DA}</a:tableStyleId>
              </a:tblPr>
              <a:tblGrid>
                <a:gridCol w="3871371">
                  <a:extLst>
                    <a:ext uri="{9D8B030D-6E8A-4147-A177-3AD203B41FA5}">
                      <a16:colId xmlns:a16="http://schemas.microsoft.com/office/drawing/2014/main" val="427085716"/>
                    </a:ext>
                  </a:extLst>
                </a:gridCol>
                <a:gridCol w="2785461">
                  <a:extLst>
                    <a:ext uri="{9D8B030D-6E8A-4147-A177-3AD203B41FA5}">
                      <a16:colId xmlns:a16="http://schemas.microsoft.com/office/drawing/2014/main" val="398691855"/>
                    </a:ext>
                  </a:extLst>
                </a:gridCol>
              </a:tblGrid>
              <a:tr h="1076258"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Features selected</a:t>
                      </a:r>
                    </a:p>
                  </a:txBody>
                  <a:tcPr marL="101352" marR="144788" marT="28958" marB="21718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tx1"/>
                          </a:solidFill>
                        </a:rPr>
                        <a:t>Adjusted R-squared values</a:t>
                      </a:r>
                    </a:p>
                  </a:txBody>
                  <a:tcPr marL="101352" marR="144788" marT="28958" marB="21718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692535"/>
                  </a:ext>
                </a:extLst>
              </a:tr>
              <a:tr h="593631">
                <a:tc>
                  <a:txBody>
                    <a:bodyPr/>
                    <a:lstStyle/>
                    <a:p>
                      <a:pPr algn="l"/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Sqft , Beds , Baths , HomeType</a:t>
                      </a:r>
                    </a:p>
                  </a:txBody>
                  <a:tcPr marL="101352" marR="144788" marT="28958" marB="217182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0.872</a:t>
                      </a:r>
                    </a:p>
                  </a:txBody>
                  <a:tcPr marL="101352" marR="144788" marT="28958" marB="2171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325664"/>
                  </a:ext>
                </a:extLst>
              </a:tr>
              <a:tr h="883207">
                <a:tc>
                  <a:txBody>
                    <a:bodyPr/>
                    <a:lstStyle/>
                    <a:p>
                      <a:pPr algn="l"/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Sqft , Beds , Baths , HomeType, YearBuilt, Cooling</a:t>
                      </a:r>
                    </a:p>
                  </a:txBody>
                  <a:tcPr marL="101352" marR="144788" marT="28958" marB="217182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0.948</a:t>
                      </a:r>
                    </a:p>
                  </a:txBody>
                  <a:tcPr marL="101352" marR="144788" marT="28958" marB="2171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470181"/>
                  </a:ext>
                </a:extLst>
              </a:tr>
              <a:tr h="11727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Sqft , Beds , Baths , HomeType, YearBuilt, Cooling,</a:t>
                      </a:r>
                    </a:p>
                    <a:p>
                      <a:pPr algn="l"/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Heating</a:t>
                      </a:r>
                    </a:p>
                  </a:txBody>
                  <a:tcPr marL="101352" marR="144788" marT="28958" marB="217182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0.941</a:t>
                      </a:r>
                    </a:p>
                  </a:txBody>
                  <a:tcPr marL="101352" marR="144788" marT="28958" marB="2171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758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042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558663-7E32-FB4F-9946-984B5A4F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198299"/>
            <a:ext cx="4443154" cy="105066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vl="0">
              <a:defRPr/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Housing price prediction:</a:t>
            </a:r>
            <a:b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Prediction using multivariate analysis  and predictors -  Sqft , Beds , Baths , HomeType, YearBuilt, Cooling , Heating</a:t>
            </a:r>
            <a:b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CA196-ACF3-184B-A15F-5537B3816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452914"/>
            <a:ext cx="4443154" cy="37240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The predicted prices and the real prices coincide predominantly.</a:t>
            </a:r>
          </a:p>
          <a:p>
            <a:r>
              <a:rPr lang="en-US" sz="2000" dirty="0"/>
              <a:t>The MAPE for the model comes to 5.415.</a:t>
            </a:r>
          </a:p>
          <a:p>
            <a:r>
              <a:rPr lang="en-US" sz="2000" dirty="0"/>
              <a:t>The R-squared value is 0.973 and the adjusted R-squared value comes to 0.941.</a:t>
            </a:r>
          </a:p>
          <a:p>
            <a:r>
              <a:rPr lang="en-US" sz="2000" dirty="0"/>
              <a:t>We can say that the model is able to predict the selling price accurately using the selected features.</a:t>
            </a:r>
          </a:p>
        </p:txBody>
      </p:sp>
      <p:pic>
        <p:nvPicPr>
          <p:cNvPr id="10" name="Content Placeholder 9" descr="Chart&#10;&#10;Description automatically generated">
            <a:extLst>
              <a:ext uri="{FF2B5EF4-FFF2-40B4-BE49-F238E27FC236}">
                <a16:creationId xmlns:a16="http://schemas.microsoft.com/office/drawing/2014/main" id="{067EBC73-7685-3342-956F-90F9F4AE41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865406"/>
            <a:ext cx="6440424" cy="507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4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849EC-0E82-E843-9325-31BE4C1C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65407"/>
            <a:ext cx="4443154" cy="12138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Housing price prediction:</a:t>
            </a:r>
            <a:b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with Zillow’s Zestimate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F479C-9E1C-F44E-B2D0-AB85CB2FA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2510107"/>
            <a:ext cx="4443154" cy="36668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Zillow’s Zestimate is close to the real selling price in most cases.</a:t>
            </a:r>
          </a:p>
          <a:p>
            <a:r>
              <a:rPr lang="en-US" sz="2000" dirty="0"/>
              <a:t>We can see some considerable errors at points 60 and 100.</a:t>
            </a:r>
          </a:p>
          <a:p>
            <a:r>
              <a:rPr lang="en-US" sz="2000" dirty="0"/>
              <a:t>The MAPE for the model comes to 56.004 which is considerably higher than the developer multivariate model.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Content Placeholder 5" descr="Chart&#10;&#10;Description automatically generated">
            <a:extLst>
              <a:ext uri="{FF2B5EF4-FFF2-40B4-BE49-F238E27FC236}">
                <a16:creationId xmlns:a16="http://schemas.microsoft.com/office/drawing/2014/main" id="{59CBF368-BA28-5B42-BD82-E3F65F0BBD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5816" y="865406"/>
            <a:ext cx="6440424" cy="507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57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3A197-6DA1-5848-AB93-5239E921D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3200" dirty="0"/>
              <a:t>Answers to the research questions:</a:t>
            </a:r>
            <a:br>
              <a:rPr lang="en-US" sz="5600" dirty="0"/>
            </a:br>
            <a:r>
              <a:rPr lang="en-US" sz="2000" dirty="0"/>
              <a:t>Findings and observations</a:t>
            </a:r>
            <a:endParaRPr lang="en-US" sz="5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9C89D-6D7B-FF4C-97D6-149DDB6B9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1900" i="1" dirty="0"/>
              <a:t>What drives the housing prices?</a:t>
            </a:r>
          </a:p>
          <a:p>
            <a:pPr marL="457200" lvl="1" indent="0">
              <a:buNone/>
            </a:pPr>
            <a:r>
              <a:rPr lang="en-US" sz="1900" i="0" dirty="0"/>
              <a:t>Square footage , Number of beds and baths , type of the home, age of the home, cooling and</a:t>
            </a:r>
          </a:p>
          <a:p>
            <a:pPr marL="457200" lvl="1" indent="0">
              <a:buNone/>
            </a:pPr>
            <a:r>
              <a:rPr lang="en-US" sz="1900" i="0" dirty="0"/>
              <a:t>heating systems have a major role in the pricing of the house.</a:t>
            </a:r>
          </a:p>
          <a:p>
            <a:r>
              <a:rPr lang="en-US" sz="1900" i="1" dirty="0"/>
              <a:t>Prediction of housing prices:</a:t>
            </a:r>
          </a:p>
          <a:p>
            <a:pPr marL="457200" lvl="1" indent="0">
              <a:buNone/>
            </a:pPr>
            <a:r>
              <a:rPr lang="en-US" sz="1900" dirty="0"/>
              <a:t>The developed multivariate model using the above features was able to predict the housing price with good accuracy.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i="1" dirty="0"/>
              <a:t>How the model fares in comparison to Zillow Zestimates?</a:t>
            </a:r>
          </a:p>
          <a:p>
            <a:pPr marL="457200" lvl="1" indent="0">
              <a:buNone/>
            </a:pPr>
            <a:r>
              <a:rPr lang="en-US" sz="1900" i="0" dirty="0"/>
              <a:t>The developed model showed more accuracy than Zillow’s Zestimates with a lower MAPE. </a:t>
            </a:r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045245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F7654-5B15-9847-8615-60D3A1718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Thank you!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8229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</TotalTime>
  <Words>1328</Words>
  <Application>Microsoft Macintosh PowerPoint</Application>
  <PresentationFormat>Widescreen</PresentationFormat>
  <Paragraphs>108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ANALYZING THE SAN RAMON AREA HOUSING MARKET  DATA EXPLORATION, ANALYSIS AND HOUSING PRICE PREDICTION </vt:lpstr>
      <vt:lpstr>Steps involved:</vt:lpstr>
      <vt:lpstr>Data Preprocessing</vt:lpstr>
      <vt:lpstr>Data preprocessing Importing data from the csv file</vt:lpstr>
      <vt:lpstr>Data preprocessing cleaning and imputations</vt:lpstr>
      <vt:lpstr>Data preprocessing After cleaning and imputations</vt:lpstr>
      <vt:lpstr>Exploratory Analysis and Visualizations </vt:lpstr>
      <vt:lpstr>Features impacting the price of the house: Relationship between Year built, House type and the price of the house</vt:lpstr>
      <vt:lpstr>Features impacting the price of the house: Relationship between Square footage, House type and the price of the house</vt:lpstr>
      <vt:lpstr>Features impacting the price of the house: Relationship between number of Bedrooms and the price of the house</vt:lpstr>
      <vt:lpstr>Features impacting the price of the house: Relationship between number of baths and the price of the house</vt:lpstr>
      <vt:lpstr>Features impacting the price of the house: Relationship between monthly hoa fee and the price of the house</vt:lpstr>
      <vt:lpstr>Price distribution Understand the pricing in San Ramon area        </vt:lpstr>
      <vt:lpstr>Price distribution Pricing comparison for different types of homes</vt:lpstr>
      <vt:lpstr>Price distribution Pricing comparison for different heating systems</vt:lpstr>
      <vt:lpstr>Price distribution Pricing comparison for different heating systems</vt:lpstr>
      <vt:lpstr>Research questions</vt:lpstr>
      <vt:lpstr>Research questions: The motivation behind the analysis of the dataset</vt:lpstr>
      <vt:lpstr>   Analyzing the correlation: Correlation analysis using a heatmap        </vt:lpstr>
      <vt:lpstr>Analyzing the correlation: Correlation analysis using simple linear regression and R-squared values</vt:lpstr>
      <vt:lpstr>Analyzing the correlation: Correlation analysis using multiple linear regression and adjusted R-squared values</vt:lpstr>
      <vt:lpstr>Housing price prediction: Prediction using multivariate analysis  and predictors -  Sqft , Beds , Baths , HomeType, YearBuilt, Cooling , Heating </vt:lpstr>
      <vt:lpstr>Housing price prediction: Comparison with Zillow’s Zestimate</vt:lpstr>
      <vt:lpstr>Answers to the research questions: Findings and observations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 SAN RAMON AREA HOUSING MARKET  DATA SCRAPING AND EXTRACTION </dc:title>
  <dc:creator>Usha Praveen</dc:creator>
  <cp:lastModifiedBy>Usha Praveen</cp:lastModifiedBy>
  <cp:revision>73</cp:revision>
  <dcterms:created xsi:type="dcterms:W3CDTF">2021-04-30T21:50:19Z</dcterms:created>
  <dcterms:modified xsi:type="dcterms:W3CDTF">2021-05-12T17:17:03Z</dcterms:modified>
</cp:coreProperties>
</file>