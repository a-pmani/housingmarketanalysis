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3" r:id="rId1"/>
  </p:sldMasterIdLst>
  <p:sldIdLst>
    <p:sldId id="256" r:id="rId2"/>
    <p:sldId id="259" r:id="rId3"/>
    <p:sldId id="258" r:id="rId4"/>
    <p:sldId id="260" r:id="rId5"/>
    <p:sldId id="261" r:id="rId6"/>
    <p:sldId id="263" r:id="rId7"/>
    <p:sldId id="26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11"/>
    <p:restoredTop sz="94650"/>
  </p:normalViewPr>
  <p:slideViewPr>
    <p:cSldViewPr snapToGrid="0" snapToObjects="1">
      <p:cViewPr varScale="1">
        <p:scale>
          <a:sx n="107" d="100"/>
          <a:sy n="107" d="100"/>
        </p:scale>
        <p:origin x="176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4/30/21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0625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4/30/21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6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4/30/21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918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4/30/21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303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4/30/21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101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4/30/21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713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4/30/21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326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4/30/21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646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4/30/21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6655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4/30/21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940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4/30/21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435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4EC743F4-8769-40B4-85DF-6CB8DE9F66AA}" type="datetimeFigureOut">
              <a:rPr lang="en-US" smtClean="0"/>
              <a:pPr/>
              <a:t>4/30/21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035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72" r:id="rId6"/>
    <p:sldLayoutId id="2147483767" r:id="rId7"/>
    <p:sldLayoutId id="2147483768" r:id="rId8"/>
    <p:sldLayoutId id="2147483769" r:id="rId9"/>
    <p:sldLayoutId id="2147483771" r:id="rId10"/>
    <p:sldLayoutId id="214748377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3F13AAF-525E-4953-A67E-7B34FDB4D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52A859-8600-6C45-B170-5492D9377D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9510" y="4575967"/>
            <a:ext cx="4457690" cy="1720850"/>
          </a:xfrm>
        </p:spPr>
        <p:txBody>
          <a:bodyPr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2700" dirty="0">
                <a:latin typeface="Calibri" panose="020F0502020204030204" pitchFamily="34" charset="0"/>
                <a:cs typeface="Calibri" panose="020F0502020204030204" pitchFamily="34" charset="0"/>
              </a:rPr>
              <a:t>ANALYZING THE SAN RAMON AREA HOUSING MARKET</a:t>
            </a: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DATA SCRAPING AND EXTRACTION </a:t>
            </a:r>
            <a:b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FROM ZILLOW.COM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2FE4E4-4BC3-4D47-98CB-E5778CA54A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4801" y="4575967"/>
            <a:ext cx="4451347" cy="1720850"/>
          </a:xfrm>
        </p:spPr>
        <p:txBody>
          <a:bodyPr anchor="ctr">
            <a:normAutofit/>
          </a:bodyPr>
          <a:lstStyle/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SUBMITTED BY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ALARMELU PICHUMANI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TJ6723</a:t>
            </a:r>
          </a:p>
        </p:txBody>
      </p:sp>
      <p:pic>
        <p:nvPicPr>
          <p:cNvPr id="4" name="Picture 3" descr="Abstract background of mesh">
            <a:extLst>
              <a:ext uri="{FF2B5EF4-FFF2-40B4-BE49-F238E27FC236}">
                <a16:creationId xmlns:a16="http://schemas.microsoft.com/office/drawing/2014/main" id="{FEDEDFD1-1FA2-4770-A2F2-99C339B0C8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1" b="50496"/>
          <a:stretch/>
        </p:blipFill>
        <p:spPr>
          <a:xfrm>
            <a:off x="20" y="10"/>
            <a:ext cx="12191977" cy="4014777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2E97E5C-7A5F-424E-AAE4-654396E9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5826000" y="5436392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33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4BE06-1ACC-FC43-8483-E384045B1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606220"/>
            <a:ext cx="3531600" cy="97969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How to get the data from Zillow.com?</a:t>
            </a:r>
          </a:p>
        </p:txBody>
      </p:sp>
      <p:pic>
        <p:nvPicPr>
          <p:cNvPr id="6" name="Content Placeholder 5" descr="Graphical user interface&#10;&#10;Description automatically generated">
            <a:extLst>
              <a:ext uri="{FF2B5EF4-FFF2-40B4-BE49-F238E27FC236}">
                <a16:creationId xmlns:a16="http://schemas.microsoft.com/office/drawing/2014/main" id="{A3533018-00B5-514B-AB02-99A2206E99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30812" y="606219"/>
            <a:ext cx="5759450" cy="2822781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14549A-7361-3948-A605-C7A3EAD6B2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7813" y="2017609"/>
            <a:ext cx="3963788" cy="4192587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Enter our search criteria in the main search page to scrape data about individual houses in San Ramon (image on top)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Results of individual homes listed are to the right 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Scrape house details from the pages of the respective homes (image at the bottom)</a:t>
            </a:r>
          </a:p>
        </p:txBody>
      </p:sp>
      <p:pic>
        <p:nvPicPr>
          <p:cNvPr id="8" name="Picture 7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C673C89C-E5C1-DB47-A63B-BC6BDE4B4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812" y="3325813"/>
            <a:ext cx="5759450" cy="323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259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AB823-5A45-6E42-93F6-11F0466FF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090611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What are the features of interest?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33F58F-BE37-1045-AE2D-B6DD6664A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685925"/>
            <a:ext cx="10213200" cy="4657725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Home address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Year the home was built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Zestimate – Zillow’s estimate of the home’s selling price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Home type and square foot area of the home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Number of bedrooms and bathrooms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HOA fees, if any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Tax assessed value – the property’s determined valuation to calculate taxes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School rating, heating and cooling features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668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DEE36-8E92-1F48-A1E2-F25B5D4A3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8"/>
            <a:ext cx="10213200" cy="2776537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How were the data obtained?</a:t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610AB-3327-4C40-8D70-B9961447F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 Selenium webdriver to get the main search page and to collect the hyperlinks of the homes listed as part of the search results.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Web driver mimics the human behavior of opening URLs and closing them afterwards.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Beautiful Soup – a python library parses the HTML documents of the website and creates a parse tree, from which features of interest for the homes are extracted.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148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409D0-E663-AD45-896F-8F6097EC0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862011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How was the data extracted and stored?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D7FA0-509C-6343-88EE-21547C082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257300"/>
            <a:ext cx="10213200" cy="5205411"/>
          </a:xfrm>
        </p:spPr>
        <p:txBody>
          <a:bodyPr>
            <a:normAutofit fontScale="92500"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 list of individual homes’ hyperlinks is captured from the main search page and is compiled into a 'set’ of unique hyperlinks to avoid scraping duplicate data.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set is iterated through, and the web pages’ HTML document is parsed using Beautiful Soup library.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features of interest listed earlier are captured by leveraging python’s several text processing techniques.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 python dictionary is used to capture all the data with the labels in place for each home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    	 for example: details_dict={‘Address’:address,’Year built’:year_built ..},{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data is collected and compiled into a panda data frame and converted into a ‘.csv’ file for further analysis.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078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8D6C0-8535-FD43-93FA-687A77577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Details of the final data frame after extraction and cleaning: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2F5B8-411C-974B-82BB-3229DF605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cap="none" dirty="0">
                <a:latin typeface="Calibri" panose="020F0502020204030204" pitchFamily="34" charset="0"/>
                <a:cs typeface="Calibri" panose="020F0502020204030204" pitchFamily="34" charset="0"/>
              </a:rPr>
              <a:t>Data frame information</a:t>
            </a:r>
          </a:p>
        </p:txBody>
      </p:sp>
      <p:pic>
        <p:nvPicPr>
          <p:cNvPr id="9" name="Content Placeholder 8" descr="Table&#10;&#10;Description automatically generated">
            <a:extLst>
              <a:ext uri="{FF2B5EF4-FFF2-40B4-BE49-F238E27FC236}">
                <a16:creationId xmlns:a16="http://schemas.microsoft.com/office/drawing/2014/main" id="{86288DEC-2E58-3643-B3A9-B0295937441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78904" y="2620961"/>
            <a:ext cx="3128188" cy="3159008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AEE456-5849-3949-86D3-BE9C950EF6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508125"/>
            <a:ext cx="5106600" cy="1112836"/>
          </a:xfrm>
        </p:spPr>
        <p:txBody>
          <a:bodyPr>
            <a:normAutofit/>
          </a:bodyPr>
          <a:lstStyle/>
          <a:p>
            <a:r>
              <a:rPr lang="en-US" cap="none" dirty="0">
                <a:latin typeface="Calibri" panose="020F0502020204030204" pitchFamily="34" charset="0"/>
                <a:cs typeface="Calibri" panose="020F0502020204030204" pitchFamily="34" charset="0"/>
              </a:rPr>
              <a:t>Screenshot of the first 5 rows from the total of 157 rows of housing data</a:t>
            </a:r>
          </a:p>
        </p:txBody>
      </p:sp>
      <p:pic>
        <p:nvPicPr>
          <p:cNvPr id="7" name="Content Placeholder 4" descr="Table&#10;&#10;Description automatically generated with medium confidence">
            <a:extLst>
              <a:ext uri="{FF2B5EF4-FFF2-40B4-BE49-F238E27FC236}">
                <a16:creationId xmlns:a16="http://schemas.microsoft.com/office/drawing/2014/main" id="{E52C25D2-633D-2D42-9150-F88120B88A1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058343" y="2644748"/>
            <a:ext cx="7133657" cy="3143316"/>
          </a:xfrm>
        </p:spPr>
      </p:pic>
    </p:spTree>
    <p:extLst>
      <p:ext uri="{BB962C8B-B14F-4D97-AF65-F5344CB8AC3E}">
        <p14:creationId xmlns:p14="http://schemas.microsoft.com/office/powerpoint/2010/main" val="1491908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4708A-6AF5-1344-949D-ACA6A1CFC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Details of the final .csv file: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(*showing first 20 records)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3F36A-0A11-FC46-B311-76CBC2C29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 of the file: </a:t>
            </a:r>
            <a:r>
              <a:rPr lang="en-US" dirty="0" err="1"/>
              <a:t>SanRamon_housing.csv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C867849-5A1F-4246-A288-C519BBB72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899430"/>
              </p:ext>
            </p:extLst>
          </p:nvPr>
        </p:nvGraphicFramePr>
        <p:xfrm>
          <a:off x="5683250" y="3604419"/>
          <a:ext cx="825500" cy="203200"/>
        </p:xfrm>
        <a:graphic>
          <a:graphicData uri="http://schemas.openxmlformats.org/drawingml/2006/table">
            <a:tbl>
              <a:tblPr/>
              <a:tblGrid>
                <a:gridCol w="825500">
                  <a:extLst>
                    <a:ext uri="{9D8B030D-6E8A-4147-A177-3AD203B41FA5}">
                      <a16:colId xmlns:a16="http://schemas.microsoft.com/office/drawing/2014/main" val="2488405468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8163863"/>
                  </a:ext>
                </a:extLst>
              </a:tr>
            </a:tbl>
          </a:graphicData>
        </a:graphic>
      </p:graphicFrame>
      <p:pic>
        <p:nvPicPr>
          <p:cNvPr id="8" name="Picture 7" descr="Graphical user interface, application, table, Excel&#10;&#10;Description automatically generated">
            <a:extLst>
              <a:ext uri="{FF2B5EF4-FFF2-40B4-BE49-F238E27FC236}">
                <a16:creationId xmlns:a16="http://schemas.microsoft.com/office/drawing/2014/main" id="{1325766E-A16F-3A4D-8236-BA22FECBD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512" y="1873305"/>
            <a:ext cx="11541296" cy="329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712457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412</Words>
  <Application>Microsoft Macintosh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Avenir Next LT Pro</vt:lpstr>
      <vt:lpstr>Calibri</vt:lpstr>
      <vt:lpstr>Goudy Old Style</vt:lpstr>
      <vt:lpstr>Wingdings</vt:lpstr>
      <vt:lpstr>FrostyVTI</vt:lpstr>
      <vt:lpstr>ANALYZING THE SAN RAMON AREA HOUSING MARKET  DATA SCRAPING AND EXTRACTION  FROM ZILLOW.COM </vt:lpstr>
      <vt:lpstr>How to get the data from Zillow.com?</vt:lpstr>
      <vt:lpstr>What are the features of interest?</vt:lpstr>
      <vt:lpstr>How were the data obtained?    </vt:lpstr>
      <vt:lpstr>How was the data extracted and stored?</vt:lpstr>
      <vt:lpstr>Details of the final data frame after extraction and cleaning:</vt:lpstr>
      <vt:lpstr>Details of the final .csv file: (*showing first 20 records)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ANALYZING THE SAN RAMON AREA HOUSING MARKET  DATA SCRAPING AND EXTRACTION </dc:title>
  <dc:creator>Usha Praveen</dc:creator>
  <cp:lastModifiedBy>Usha Praveen</cp:lastModifiedBy>
  <cp:revision>22</cp:revision>
  <dcterms:created xsi:type="dcterms:W3CDTF">2021-04-30T21:50:19Z</dcterms:created>
  <dcterms:modified xsi:type="dcterms:W3CDTF">2021-04-30T23:07:21Z</dcterms:modified>
</cp:coreProperties>
</file>